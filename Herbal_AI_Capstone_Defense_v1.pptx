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8b49eb36143a7" /><Relationship Type="http://schemas.openxmlformats.org/officeDocument/2006/relationships/extended-properties" Target="/docProps/app.xml" Id="Rb0b4afa2e89e4adc" /><Relationship Type="http://schemas.openxmlformats.org/officeDocument/2006/relationships/officeDocument" Target="/ppt/presentation.xml" Id="R3bd40724cd8c47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7f274def44a43"/>
  </p:sldMasterIdLst>
  <p:notesMasterIdLst>
    <p:notesMasterId xmlns:r="http://schemas.openxmlformats.org/officeDocument/2006/relationships" r:id="R45dd616091294afe"/>
  </p:notesMasterIdLst>
  <p:sldIdLst>
    <p:sldId xmlns:r="http://schemas.openxmlformats.org/officeDocument/2006/relationships" id="256" r:id="R8fdb2b5f8e5843c3"/>
    <p:sldId xmlns:r="http://schemas.openxmlformats.org/officeDocument/2006/relationships" id="257" r:id="Rb61e9d199a58455e"/>
    <p:sldId xmlns:r="http://schemas.openxmlformats.org/officeDocument/2006/relationships" id="258" r:id="Rd221468f293a48d4"/>
    <p:sldId xmlns:r="http://schemas.openxmlformats.org/officeDocument/2006/relationships" id="259" r:id="R6e869e82e9d64537"/>
    <p:sldId xmlns:r="http://schemas.openxmlformats.org/officeDocument/2006/relationships" id="260" r:id="R83e00c1bd58d44e5"/>
    <p:sldId xmlns:r="http://schemas.openxmlformats.org/officeDocument/2006/relationships" id="261" r:id="Ra93e3f99c972470e"/>
    <p:sldId xmlns:r="http://schemas.openxmlformats.org/officeDocument/2006/relationships" id="262" r:id="Rc3d0e3bd7f784bac"/>
    <p:sldId xmlns:r="http://schemas.openxmlformats.org/officeDocument/2006/relationships" id="263" r:id="Re17a5c9f34a04010"/>
    <p:sldId xmlns:r="http://schemas.openxmlformats.org/officeDocument/2006/relationships" id="264" r:id="R499faea703cf4b2b"/>
    <p:sldId xmlns:r="http://schemas.openxmlformats.org/officeDocument/2006/relationships" id="265" r:id="R3286ad5d57414051"/>
    <p:sldId xmlns:r="http://schemas.openxmlformats.org/officeDocument/2006/relationships" id="266" r:id="Rdff4cace0bbc40b8"/>
    <p:sldId xmlns:r="http://schemas.openxmlformats.org/officeDocument/2006/relationships" id="267" r:id="R9e5c5311fd854548"/>
    <p:sldId xmlns:r="http://schemas.openxmlformats.org/officeDocument/2006/relationships" id="268" r:id="R0054f6d538874f21"/>
    <p:sldId xmlns:r="http://schemas.openxmlformats.org/officeDocument/2006/relationships" id="269" r:id="R4c7fb3b135ab4ec4"/>
    <p:sldId xmlns:r="http://schemas.openxmlformats.org/officeDocument/2006/relationships" id="270" r:id="Ra4b21e9f966b4f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4df90adb34cb2" /><Relationship Type="http://schemas.openxmlformats.org/officeDocument/2006/relationships/slideMaster" Target="/ppt/slideMasters/slideMaster1.xml" Id="R98f7f274def44a43" /><Relationship Type="http://schemas.openxmlformats.org/officeDocument/2006/relationships/notesMaster" Target="/ppt/notesMasters/notesMaster1.xml" Id="R45dd616091294afe" /><Relationship Type="http://schemas.openxmlformats.org/officeDocument/2006/relationships/presProps" Target="/ppt/presProps.xml" Id="R9436165a79204706" /><Relationship Type="http://schemas.openxmlformats.org/officeDocument/2006/relationships/tableStyles" Target="/ppt/tableStyles.xml" Id="Rf7023091807b4c40" /><Relationship Type="http://schemas.openxmlformats.org/officeDocument/2006/relationships/slide" Target="/ppt/slides/slide1.xml" Id="R8fdb2b5f8e5843c3" /><Relationship Type="http://schemas.openxmlformats.org/officeDocument/2006/relationships/slide" Target="/ppt/slides/slide2.xml" Id="Rb61e9d199a58455e" /><Relationship Type="http://schemas.openxmlformats.org/officeDocument/2006/relationships/slide" Target="/ppt/slides/slide3.xml" Id="Rd221468f293a48d4" /><Relationship Type="http://schemas.openxmlformats.org/officeDocument/2006/relationships/slide" Target="/ppt/slides/slide4.xml" Id="R6e869e82e9d64537" /><Relationship Type="http://schemas.openxmlformats.org/officeDocument/2006/relationships/slide" Target="/ppt/slides/slide5.xml" Id="R83e00c1bd58d44e5" /><Relationship Type="http://schemas.openxmlformats.org/officeDocument/2006/relationships/slide" Target="/ppt/slides/slide6.xml" Id="Ra93e3f99c972470e" /><Relationship Type="http://schemas.openxmlformats.org/officeDocument/2006/relationships/slide" Target="/ppt/slides/slide7.xml" Id="Rc3d0e3bd7f784bac" /><Relationship Type="http://schemas.openxmlformats.org/officeDocument/2006/relationships/slide" Target="/ppt/slides/slide8.xml" Id="Re17a5c9f34a04010" /><Relationship Type="http://schemas.openxmlformats.org/officeDocument/2006/relationships/slide" Target="/ppt/slides/slide9.xml" Id="R499faea703cf4b2b" /><Relationship Type="http://schemas.openxmlformats.org/officeDocument/2006/relationships/slide" Target="/ppt/slides/slide10.xml" Id="R3286ad5d57414051" /><Relationship Type="http://schemas.openxmlformats.org/officeDocument/2006/relationships/slide" Target="/ppt/slides/slide11.xml" Id="Rdff4cace0bbc40b8" /><Relationship Type="http://schemas.openxmlformats.org/officeDocument/2006/relationships/slide" Target="/ppt/slides/slide12.xml" Id="R9e5c5311fd854548" /><Relationship Type="http://schemas.openxmlformats.org/officeDocument/2006/relationships/slide" Target="/ppt/slides/slide13.xml" Id="R0054f6d538874f21" /><Relationship Type="http://schemas.openxmlformats.org/officeDocument/2006/relationships/slide" Target="/ppt/slides/slide14.xml" Id="R4c7fb3b135ab4ec4" /><Relationship Type="http://schemas.openxmlformats.org/officeDocument/2006/relationships/slide" Target="/ppt/slides/slide15.xml" Id="Ra4b21e9f966b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3e049a4cf2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8f82ec23d4017" /><Relationship Type="http://schemas.openxmlformats.org/officeDocument/2006/relationships/notesMaster" Target="/ppt/notesMasters/notesMaster1.xml" Id="R7fbf696a1add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ce3cf405b4135" /><Relationship Type="http://schemas.openxmlformats.org/officeDocument/2006/relationships/notesMaster" Target="/ppt/notesMasters/notesMaster1.xml" Id="Rfb70649e1711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cbb083b134fe9" /><Relationship Type="http://schemas.openxmlformats.org/officeDocument/2006/relationships/notesMaster" Target="/ppt/notesMasters/notesMaster1.xml" Id="R569e5cd9dcee49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8752837a04158" /><Relationship Type="http://schemas.openxmlformats.org/officeDocument/2006/relationships/notesMaster" Target="/ppt/notesMasters/notesMaster1.xml" Id="R11873749b42c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550d6231d44a9f" /><Relationship Type="http://schemas.openxmlformats.org/officeDocument/2006/relationships/notesMaster" Target="/ppt/notesMasters/notesMaster1.xml" Id="R93e3362f6d56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3e1c320ec940f7" /><Relationship Type="http://schemas.openxmlformats.org/officeDocument/2006/relationships/notesMaster" Target="/ppt/notesMasters/notesMaster1.xml" Id="R0d76f951cabe46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0125cd7a3e48c0" /><Relationship Type="http://schemas.openxmlformats.org/officeDocument/2006/relationships/notesMaster" Target="/ppt/notesMasters/notesMaster1.xml" Id="R8f98efe2e435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c58949272e45cb" /><Relationship Type="http://schemas.openxmlformats.org/officeDocument/2006/relationships/notesMaster" Target="/ppt/notesMasters/notesMaster1.xml" Id="Rd4a862232c07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f9e893f576473d" /><Relationship Type="http://schemas.openxmlformats.org/officeDocument/2006/relationships/notesMaster" Target="/ppt/notesMasters/notesMaster1.xml" Id="R482fa18a5e244c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5ce8d40f224ee6" /><Relationship Type="http://schemas.openxmlformats.org/officeDocument/2006/relationships/notesMaster" Target="/ppt/notesMasters/notesMaster1.xml" Id="R1b9d1f2ac6ec4a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d108113b654244" /><Relationship Type="http://schemas.openxmlformats.org/officeDocument/2006/relationships/notesMaster" Target="/ppt/notesMasters/notesMaster1.xml" Id="R4422268607d34e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4dd52b14a746e9" /><Relationship Type="http://schemas.openxmlformats.org/officeDocument/2006/relationships/notesMaster" Target="/ppt/notesMasters/notesMaster1.xml" Id="Re320cdbf3f6344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d9b12a9bb64c0e" /><Relationship Type="http://schemas.openxmlformats.org/officeDocument/2006/relationships/notesMaster" Target="/ppt/notesMasters/notesMaster1.xml" Id="Rfcec7eca2a0941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0b0623fb234f56" /><Relationship Type="http://schemas.openxmlformats.org/officeDocument/2006/relationships/notesMaster" Target="/ppt/notesMasters/notesMaster1.xml" Id="R566d3e648e6d45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dacf2a382b4152" /><Relationship Type="http://schemas.openxmlformats.org/officeDocument/2006/relationships/notesMaster" Target="/ppt/notesMasters/notesMaster1.xml" Id="Rc597ac047edf41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Herbal AI and the team. Kevin C. Mercado serves as Project Manager and Backend Developer. Source: Herbal_AI_SRS_v3.docx and Herbal_AI_SPMP_v3.docx.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information fragmentation, preparation risk and misidentification risk documented in the SRS. The screenshot is the project homepage captured in the SRS.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objective to a feature demonstrated later. State the medical boundary clearly before discussing Dr.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browser to the API, database and external services. Emphasize that frontend code does not receive Gemini or database secrets.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search, filters and a detail page. Explain that suggestions do not appear here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tested live knowledge-base retrieval example. Dr. AI included the unique managed fact and cited the exact active source. Unknown herbs produced no source or dosage.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pending content remains hidden. Mention that all administrative knowledge-base create, edit, status and delete actions now generate audit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permissions by role. Then summarize the forum, herb comments and private messaging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show credentials during the defense. Explain that the delivered email tests used a temporary alias and that password values never entered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shows the evidence score by weighted area. Clarify that 88 out of 100 is an internal readiness indicator, not an academic grade.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homepage met the local sample target after splitting static and interactive sections. Do not claim production acceptance. Login still took about five seconds against the remote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the allocation totals 100% and records Kevin as the highest contributor. The allocation should remain consistent across formal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limitations directly. Explain that VPS and domain work is deferred by choice, so local rehearsal readiness remains the honest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production-mode local launcher before the presentation. Do not expose passwords or environment files. Keep the live demo focused and under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 If asked whether the project is complete, answer that local functional verification is complete while UAT, staging performance, deployment and reviewer acceptance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b05415476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6ae665b1d465d" /><Relationship Type="http://schemas.openxmlformats.org/officeDocument/2006/relationships/slideLayout" Target="/ppt/slideLayouts/slideLayout1.xml" Id="R85fbf03681e045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bf03681e045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5fde7638c4712" /><Relationship Type="http://schemas.openxmlformats.org/officeDocument/2006/relationships/image" Target="/ppt/media/image.jpeg" Id="Ra0a671f7a43c4ab1" /><Relationship Type="http://schemas.openxmlformats.org/officeDocument/2006/relationships/image" Target="/ppt/media/image2.jpeg" Id="Re77ee7fb9a994eb7" /><Relationship Type="http://schemas.openxmlformats.org/officeDocument/2006/relationships/notesSlide" Target="/ppt/notesSlides/notesSlide1.xml" Id="Ra574650aa838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248165d7d4e74" /><Relationship Type="http://schemas.openxmlformats.org/officeDocument/2006/relationships/image" Target="/ppt/media/image3.jpeg" Id="R9cc37b49b63a4479" /><Relationship Type="http://schemas.openxmlformats.org/officeDocument/2006/relationships/notesSlide" Target="/ppt/notesSlides/notesSlide2.xml" Id="Rfc1ef2b9013e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d56b8aeb84775" /><Relationship Type="http://schemas.openxmlformats.org/officeDocument/2006/relationships/notesSlide" Target="/ppt/notesSlides/notesSlide3.xml" Id="Rdbdff08fafc0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63a223ed84559" /><Relationship Type="http://schemas.openxmlformats.org/officeDocument/2006/relationships/notesSlide" Target="/ppt/notesSlides/notesSlide4.xml" Id="R0e18ee1b388f41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6ccddfe314f16" /><Relationship Type="http://schemas.openxmlformats.org/officeDocument/2006/relationships/image" Target="/ppt/media/image4.jpeg" Id="Rdaa653ca72b34dcf" /><Relationship Type="http://schemas.openxmlformats.org/officeDocument/2006/relationships/notesSlide" Target="/ppt/notesSlides/notesSlide5.xml" Id="R7e590b0df41b4e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549bd92a41bb" /><Relationship Type="http://schemas.openxmlformats.org/officeDocument/2006/relationships/image" Target="/ppt/media/image5.jpeg" Id="R6e7e9ba7e0ac43ca" /><Relationship Type="http://schemas.openxmlformats.org/officeDocument/2006/relationships/notesSlide" Target="/ppt/notesSlides/notesSlide6.xml" Id="R9cb0fd5b3df0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c06ff4efb4f3a" /><Relationship Type="http://schemas.openxmlformats.org/officeDocument/2006/relationships/image" Target="/ppt/media/image6.jpeg" Id="R959a5289507e40c7" /><Relationship Type="http://schemas.openxmlformats.org/officeDocument/2006/relationships/notesSlide" Target="/ppt/notesSlides/notesSlide7.xml" Id="Rfc0928fa6ac04d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c5aebf8149c3" /><Relationship Type="http://schemas.openxmlformats.org/officeDocument/2006/relationships/image" Target="/ppt/media/image7.jpeg" Id="R660a8880940c4633" /><Relationship Type="http://schemas.openxmlformats.org/officeDocument/2006/relationships/notesSlide" Target="/ppt/notesSlides/notesSlide8.xml" Id="R6012513e1ba2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536da894c47aa" /><Relationship Type="http://schemas.openxmlformats.org/officeDocument/2006/relationships/notesSlide" Target="/ppt/notesSlides/notesSlide9.xml" Id="R53534e07398e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392dff23044d8" /><Relationship Type="http://schemas.openxmlformats.org/officeDocument/2006/relationships/chart" Target="/ppt/slides/charts/chart1.xml" Id="Rc21fc767b64142d5" /><Relationship Type="http://schemas.openxmlformats.org/officeDocument/2006/relationships/notesSlide" Target="/ppt/notesSlides/notesSlide10.xml" Id="Rc649017eee4145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7402b8f542cc" /><Relationship Type="http://schemas.openxmlformats.org/officeDocument/2006/relationships/chart" Target="/ppt/slides/charts/chart2.xml" Id="R2a6d0359bc394ea3" /><Relationship Type="http://schemas.openxmlformats.org/officeDocument/2006/relationships/notesSlide" Target="/ppt/notesSlides/notesSlide11.xml" Id="Ra0260683a4a94a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882ea7ccc48c7" /><Relationship Type="http://schemas.openxmlformats.org/officeDocument/2006/relationships/chart" Target="/ppt/slides/charts/chart3.xml" Id="R447c15fee51a4358" /><Relationship Type="http://schemas.openxmlformats.org/officeDocument/2006/relationships/notesSlide" Target="/ppt/notesSlides/notesSlide12.xml" Id="R1429c91959604d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8c13d12974962" /><Relationship Type="http://schemas.openxmlformats.org/officeDocument/2006/relationships/notesSlide" Target="/ppt/notesSlides/notesSlide13.xml" Id="Rd51d8cf06cdb41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acc588b9442b9" /><Relationship Type="http://schemas.openxmlformats.org/officeDocument/2006/relationships/notesSlide" Target="/ppt/notesSlides/notesSlide14.xml" Id="R043af4122ef645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034cbd04a437d" /><Relationship Type="http://schemas.openxmlformats.org/officeDocument/2006/relationships/image" Target="/ppt/media/image8.jpeg" Id="Rfe9d1a7ef9964c5c" /><Relationship Type="http://schemas.openxmlformats.org/officeDocument/2006/relationships/notesSlide" Target="/ppt/notesSlides/notesSlide15.xml" Id="R1bdbd1026a44458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Earned</c:v>
          </c:tx>
          <c:spPr>
            <a:solidFill xmlns:a="http://schemas.openxmlformats.org/drawingml/2006/main">
              <a:srgbClr val="40916C"/>
            </a:solidFill>
          </c:spPr>
          <c:cat>
            <c:strLit>
              <c:ptCount val="6"/>
              <c:pt idx="0">
                <c:v>Core workflows</c:v>
              </c:pt>
              <c:pt idx="1">
                <c:v>Code quality</c:v>
              </c:pt>
              <c:pt idx="2">
                <c:v>Documentation</c:v>
              </c:pt>
              <c:pt idx="3">
                <c:v>Local demo</c:v>
              </c:pt>
              <c:pt idx="4">
                <c:v>UAT</c:v>
              </c:pt>
              <c:pt idx="5">
                <c:v>Deployment</c:v>
              </c:pt>
            </c:strLit>
          </c:cat>
          <c:val>
            <c:numLit>
              <c:formatCode>General</c:formatCode>
              <c:ptCount val="6"/>
              <c:pt idx="0">
                <c:v>35</c:v>
              </c:pt>
              <c:pt idx="1">
                <c:v>25</c:v>
              </c:pt>
              <c:pt idx="2">
                <c:v>18</c:v>
              </c:pt>
              <c:pt idx="3">
                <c:v>9</c:v>
              </c:pt>
              <c:pt idx="4">
                <c:v>0</c:v>
              </c:pt>
              <c:pt idx="5">
                <c:v>1</c:v>
              </c:pt>
            </c:numLit>
          </c:val>
        </c:ser>
        <c:ser>
          <c:idx val="1"/>
          <c:order val="1"/>
          <c:tx>
            <c:v>Remaining</c:v>
          </c:tx>
          <c:spPr>
            <a:solidFill xmlns:a="http://schemas.openxmlformats.org/drawingml/2006/main">
              <a:srgbClr val="DDE7DF"/>
            </a:solidFill>
          </c:spPr>
          <c:cat>
            <c:strLit>
              <c:ptCount val="6"/>
              <c:pt idx="0">
                <c:v>Core workflows</c:v>
              </c:pt>
              <c:pt idx="1">
                <c:v>Code quality</c:v>
              </c:pt>
              <c:pt idx="2">
                <c:v>Documentation</c:v>
              </c:pt>
              <c:pt idx="3">
                <c:v>Local demo</c:v>
              </c:pt>
              <c:pt idx="4">
                <c:v>UAT</c:v>
              </c:pt>
              <c:pt idx="5">
                <c:v>Deployment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2</c:v>
              </c:pt>
              <c:pt idx="3">
                <c:v>1</c:v>
              </c:pt>
              <c:pt idx="4">
                <c:v>7</c:v>
              </c:pt>
              <c:pt idx="5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D6B64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Homepage LCP (ms)</c:v>
          </c:tx>
          <c:spPr>
            <a:solidFill xmlns:a="http://schemas.openxmlformats.org/drawingml/2006/main">
              <a:srgbClr val="40916C"/>
            </a:solidFill>
          </c:spPr>
          <c:cat>
            <c:strLit>
              <c:ptCount val="5"/>
              <c:pt idx="0">
                <c:v>Run 1</c:v>
              </c:pt>
              <c:pt idx="1">
                <c:v>Run 2</c:v>
              </c:pt>
              <c:pt idx="2">
                <c:v>Run 3</c:v>
              </c:pt>
              <c:pt idx="3">
                <c:v>Run 4</c:v>
              </c:pt>
              <c:pt idx="4">
                <c:v>Run 5</c:v>
              </c:pt>
            </c:strLit>
          </c:cat>
          <c:val>
            <c:numLit>
              <c:formatCode>General</c:formatCode>
              <c:ptCount val="5"/>
              <c:pt idx="0">
                <c:v>2636</c:v>
              </c:pt>
              <c:pt idx="1">
                <c:v>900</c:v>
              </c:pt>
              <c:pt idx="2">
                <c:v>744</c:v>
              </c:pt>
              <c:pt idx="3">
                <c:v>820</c:v>
              </c:pt>
              <c:pt idx="4">
                <c:v>868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382B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D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00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Contribution</c:v>
          </c:tx>
          <c:dPt>
            <c:idx val="0"/>
            <c:spPr>
              <a:solidFill xmlns:a="http://schemas.openxmlformats.org/drawingml/2006/main">
                <a:srgbClr val="2D6A4F"/>
              </a:solidFill>
            </c:spPr>
          </c:dPt>
          <c:dPt>
            <c:idx val="1"/>
            <c:spPr>
              <a:solidFill xmlns:a="http://schemas.openxmlformats.org/drawingml/2006/main">
                <a:srgbClr val="74C69D"/>
              </a:solidFill>
            </c:spPr>
          </c:dPt>
          <c:dPt>
            <c:idx val="2"/>
            <c:spPr>
              <a:solidFill xmlns:a="http://schemas.openxmlformats.org/drawingml/2006/main">
                <a:srgbClr val="D9A441"/>
              </a:solidFill>
            </c:spPr>
          </c:dPt>
          <c:cat>
            <c:strLit>
              <c:ptCount val="3"/>
              <c:pt idx="0">
                <c:v>Kevin C. Mercado</c:v>
              </c:pt>
              <c:pt idx="1">
                <c:v>Devon Descipulo</c:v>
              </c:pt>
              <c:pt idx="2">
                <c:v>Eumar Cabaluna</c:v>
              </c:pt>
            </c:strLit>
          </c:cat>
          <c:val>
            <c:numLit>
              <c:formatCode>General</c:formatCode>
              <c:ptCount val="3"/>
              <c:pt idx="0">
                <c:v>50</c:v>
              </c:pt>
              <c:pt idx="1">
                <c:v>25</c:v>
              </c:pt>
              <c:pt idx="2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4382B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4382B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7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1F6E8-AE61-4345-8CFE-C528FAC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671f7a43c4ab1"/>
          <a:stretch xmlns:a="http://schemas.openxmlformats.org/drawingml/2006/main"/>
        </p:blipFill>
        <p:spPr>
          <a:xfrm xmlns:a="http://schemas.openxmlformats.org/drawingml/2006/main">
            <a:off x="781050" y="5524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ee7fb9a994eb7"/>
          <a:stretch xmlns:a="http://schemas.openxmlformats.org/drawingml/2006/main"/>
        </p:blipFill>
        <p:spPr>
          <a:xfrm xmlns:a="http://schemas.openxmlformats.org/drawingml/2006/main">
            <a:off x="10534650" y="5524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55AB3-8E4E-429F-83BD-C566B38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HERBAL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C5A31-D155-4658-99D7-93120C1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28950"/>
            <a:ext cx="866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A Digital Repository of Philippine Herbal Medicine</a:t>
            </a:r>
          </a:p>
          <a:p xmlns:a="http://schemas.openxmlformats.org/drawingml/2006/main">
            <a:pPr algn="ctr">
              <a:defRPr sz="2025" b="0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with AI-Assisted Preparation Guides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E5D34-7218-40C0-A333-6999951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672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60063-59F4-4C81-9A25-00A95ADF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Capstone Defense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4239E-F7A6-481A-AD2B-B70BB07C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721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Kevin C. Mercado, Devon Descipulo, Eumar Cabaluna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18F98-45AE-4142-87B0-DDFA8D7B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102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Bachelor of Science in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745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CA6A2-A9EB-4601-972C-6AE3E97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The problem Herbal AI addresses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3FBA1-2459-4735-B100-A5ECE777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1A1F2-CA8A-4B60-BE4A-CC113E3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EF376-2324-4CAD-A72B-EFD6F1D8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Traditional knowledge is useful, but access is fragmented and safety context is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DC2AC-59C0-44B2-BF47-17D6D768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1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Herb information is scattered across oral tradition, social posts and disconnected references.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People may confuse similar plants or follow preparation advice without dosage and warning context.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Community knowledge needs a review process before it becomes public.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37b49b63a4479"/>
          <a:stretch xmlns:a="http://schemas.openxmlformats.org/drawingml/2006/main"/>
        </p:blipFill>
        <p:spPr>
          <a:xfrm xmlns:a="http://schemas.openxmlformats.org/drawingml/2006/main">
            <a:off x="7670637" y="1285875"/>
            <a:ext cx="3003875" cy="44958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67871-D5F9-4CD5-AF09-182045D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0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Project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D676C-1E46-4AE3-B998-B9A5F6F8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97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7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One searchable repository with moderated content and grounded AI explanations.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D4596-2BBC-4854-A27D-C1D0E2BE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sections 1.1, 1.2 and 3.8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297C3-966E-4006-A7C5-9C044771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1635784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E835E-CCFA-466D-9A09-D664F09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Objectives and system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C901-8FB2-4E98-97A5-665E72D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A3066-D7F7-4572-BA2C-E4773DC9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5F8A6-05B7-4BEE-AE04-3E8CC91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Verified herb library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F635C-60EA-4361-8A03-3A4544D7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8FBF-474E-4CE1-B14F-9CEF3F9C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Search approved Philippine medicinal plants by name, category and medicinal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55366-E977-454D-95D1-8F82327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Dr.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85AFD-6250-4434-97C6-46D9EE3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F0B7A-1F42-49F6-BFB1-7CAE787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Retrieve approved repository facts, then explain them clearly with safety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77AF8-3D60-4AD6-B3E1-0EB6B508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Community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A7F22-18EB-47A0-8A72-A130DC4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72799-5032-4544-9DAC-86866C1D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Accept herb suggestions and publish them only after administrator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B1B04-B8CA-4804-9D99-CF538BA0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Account and collaboration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00D30-BABD-45BD-A66B-4BA32C4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958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F9BA5-02CC-49D7-9FE5-872BBC65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Support secure sessions, profiles, discussions, comments and private messages.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0FC1E-B70C-402E-AC98-F2BD161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4A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54A4A"/>
                </a:solidFill>
                <a:latin typeface="Aptos"/>
                <a:ea typeface="Aptos"/>
                <a:cs typeface="Aptos"/>
              </a:rPr>
              <a:t>Scope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E2879-CA58-4DDC-8286-2EFA95D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29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3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The system provides traditional-knowledge guidance. It does not diagnose, prescribe or replace professional medical care.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5ED70-ECC3-4851-8B67-6932208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sections 1.2, 1.3 and 3.2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4F253-6938-4E33-B52F-99BABBA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942786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25AF1-EA72-466C-A816-5C01A2BE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C808-2293-4704-A874-BDF030A6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AA145-B120-4854-9D34-9645191D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8C889-F693-47E3-B135-562AF53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9"/>
          </a:solidFill>
          <a:ln xmlns:a="http://schemas.openxmlformats.org/drawingml/2006/main" w="9525">
            <a:solidFill>
              <a:srgbClr val="D4E5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977E8-E029-474B-AD6B-A6F212F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Browser</a:t>
            </a:r>
          </a:p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Next.js 16 + React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70A48-4DE9-40EF-835F-EFB3B49B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8F0E0"/>
          </a:solidFill>
          <a:ln xmlns:a="http://schemas.openxmlformats.org/drawingml/2006/main" w="9525">
            <a:solidFill>
              <a:srgbClr val="D4E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619E-F5E5-425A-B7D4-0D79F57C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Express 5 + Socket.io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E6823-6105-49F4-B043-ED0A768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4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4E5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78A9F-7F6F-4D35-98F6-5CD0359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PostgreSQL + Prisma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DDB2A-1B2E-4B63-A889-F449D26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BD2"/>
          </a:solidFill>
          <a:ln xmlns:a="http://schemas.openxmlformats.org/drawingml/2006/main" w="9525">
            <a:solidFill>
              <a:srgbClr val="D4E5D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F9ED6-1EC4-4F48-A278-0BD406D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AI and media</a:t>
            </a:r>
          </a:p>
          <a:p xmlns:a="http://schemas.openxmlformats.org/drawingml/2006/main">
            <a:pPr algn="ctr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Gemini + Cloudinary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74DF4-2C5D-447C-9CB2-EB18ABD8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3A5EE-B033-4EA1-8F11-A24C3CC4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19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C8FFF-F6F1-470A-BF2D-F8630E54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19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0B468-7EAC-4D4D-A512-9D7DA22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HTTPS /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DFC91-1BCD-401C-BDB4-70F18058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576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Prisma /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CDDE2-7657-49F7-95B7-3DA23832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Embeddings /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4C300-8883-422C-AE10-8609B5B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67250"/>
            <a:ext cx="8858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The API owns validation, authorization and external service access.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Socket.io delivers authenticated messages and notifications.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Secrets stay in ignored backend environment files.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D1114-77ED-4F8C-B500-440DBF5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README architecture overview and Herbal_AI_SDD_v2.docx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CB0C2-5491-4EA3-9CA4-4F6954E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274782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6124E-30C2-4108-B880-C4F9A7AD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Verified medicinal-plant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FCE5E-7144-46D4-9D4E-9462D4D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93C21-96A3-4954-B560-C6774B8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653ca72b34dcf"/>
          <a:stretch xmlns:a="http://schemas.openxmlformats.org/drawingml/2006/main"/>
        </p:blipFill>
        <p:spPr>
          <a:xfrm xmlns:a="http://schemas.openxmlformats.org/drawingml/2006/main">
            <a:off x="1487177" y="1381125"/>
            <a:ext cx="5102845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E0280-FB1A-42D6-BFBE-0E55E66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Repository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16426-6028-409F-99F6-9C4F381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33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99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Approved entries only in the public catalog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Search by local, Cebuano or scientific name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Category filters and paginated results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Preparation, dosage and warning details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4382B"/>
                </a:solidFill>
                <a:latin typeface="Aptos"/>
                <a:ea typeface="Aptos"/>
                <a:cs typeface="Aptos"/>
              </a:rPr>
              <a:t>Verified status and meaningful image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8E7EB-5ADE-40AA-82E2-2DD14F1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134BB-A3DC-4660-97BC-154F52F8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DOH validated plants seeded in the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D672B-ACD4-49D8-907E-23D8B650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FR-HERB-001 to FR-HERB-005 and browser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507D3-6646-4FA0-B64F-FDEA897A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444324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6EF7A-89A9-41B2-8E9C-15674D5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Dr. AI uses retrieval before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A0369-F1E7-49D6-BB60-45DBEF4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8CB43-C1CE-4E19-BCA6-333E4DF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e9ba7e0ac43ca"/>
          <a:stretch xmlns:a="http://schemas.openxmlformats.org/drawingml/2006/main"/>
        </p:blipFill>
        <p:spPr>
          <a:xfrm xmlns:a="http://schemas.openxmlformats.org/drawingml/2006/main">
            <a:off x="6191250" y="1373088"/>
            <a:ext cx="5286375" cy="4207073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B9949-B430-4728-9CB0-D87C756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505AC-6C9C-4DCF-8A07-1C6F64E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39A18-432A-4AB3-9EA5-5B72A9B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A370-6C86-4957-B23B-149F489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Find relevant approved herb and knowledge-base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E7D3F-3C67-45C5-8E67-1C90811E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916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B4A53-EFBE-426E-A3ED-18E75AD1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381EE-A363-491F-A2E1-3356FD9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Constrain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0119E-D31D-4D86-988C-2EB0D50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Reject unrelated sources and retain dosage, warnings and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277C5-D7E7-4420-98E9-CB85A54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08FB7-E797-40EE-A5C8-DCB69A8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262A4-9397-4D04-BBFB-5EE46939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95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21AEB-3FF2-4C7F-899C-E4C61EF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Rewrite the short source text into a clear answer with attribution.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01E96-313E-45DA-A0C1-07EF5F4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4A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54A4A"/>
                </a:solidFill>
                <a:latin typeface="Aptos"/>
                <a:ea typeface="Aptos"/>
                <a:cs typeface="Aptos"/>
              </a:rPr>
              <a:t>Safety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187C1-89DF-4243-A2F4-7DC551E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No relevant approved source means no invented herb dosage.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6B7FF-D687-4AC8-8396-DF125D6B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FR-CHAT-001 to FR-CHAT-005 and ADMIN_CRUD_RAG rehearsal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67161-AFDF-4A46-8B93-6F26E0D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952571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E4579-9B06-4162-995C-1209EF2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Contributor and administrator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290AD-7DCD-400F-84AF-950A7F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7948F-26EE-4B49-A97A-1653D4EE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a5289507e40c7"/>
          <a:stretch xmlns:a="http://schemas.openxmlformats.org/drawingml/2006/main"/>
        </p:blipFill>
        <p:spPr>
          <a:xfrm xmlns:a="http://schemas.openxmlformats.org/drawingml/2006/main">
            <a:off x="6096000" y="1556742"/>
            <a:ext cx="5381625" cy="3363516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705C1-2729-499A-A370-5CA6F073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1EBB1-D030-4CC7-841E-C5834DA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9FD65-57FF-4E01-9217-384A44E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573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Contributor submits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45D4D-C66A-4CBC-AFDA-066F4A9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CC6C8-D5BC-4CBE-B078-27033975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B30BB-18B9-49A2-B647-C11C0D6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DBA7C-BFF6-4FCD-8E9B-C946AC3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574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Pending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3480-3A6E-4E22-8ED0-2D0CF61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F371D-9A9A-4D67-B02D-D7BDD66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38A71-CCB7-4DB3-A1EF-877970C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5F4F9-BDB6-4539-A767-4305F282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575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Admin approves or rejects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97B02-8BE0-428F-9A34-3ED5D1BD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45103-05E1-4E38-B284-7167024C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039FB-FF6F-4C39-902B-3E1A1B4A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6A34A-8BEA-414C-AA53-DC5FABC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Catalog and notification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139FB-DCE5-47DB-89A3-00FC47E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8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Verified browser lifecycle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9B42A-2392-4DB3-9592-FA0C0BA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340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Create, publish, edit, RBAC denial, audit and delete all passed with temporary-data cleanup.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2B6A9-C229-415E-ABBF-E1D885B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FR-SUG and FR-ADMIN families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2E692-8E27-4633-BDB6-5ACCC24E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865454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3D30C-72D1-496C-8A90-8D63247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Roles and collaboration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B8C2-7DE9-40B0-9DFA-5A441AB5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56A84-C60A-4C4E-8206-876E1DE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a8880940c4633"/>
          <a:stretch xmlns:a="http://schemas.openxmlformats.org/drawingml/2006/main"/>
        </p:blipFill>
        <p:spPr>
          <a:xfrm xmlns:a="http://schemas.openxmlformats.org/drawingml/2006/main">
            <a:off x="5806328" y="1285875"/>
            <a:ext cx="5532345" cy="3476625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D6DF1-8652-4B8D-ADEB-42C603A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Guest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3A08-E039-497A-BB09-529DD19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Browse verified herbs, view details and open sign-in.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DEE9E-B096-4D5F-AEBB-2E8EA148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Contributor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8FB18-CDE5-472F-A139-019AFF8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Use Dr. AI, suggest herbs, join discussions, comment and message.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EFE86-5677-4586-AD6A-460345D5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9A441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DDB67-FFF9-4CBF-A1A6-EB018E3C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Moderate submissions, manage users, herbs, knowledge and audit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5EAFB-97A9-49F2-B948-B7E52FC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Real-time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18ABC-B1AF-48FC-A03F-B654C55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Two authenticated users exchanged messages and received Socket.io delivery without reloading.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6B6F3-B292-4A70-8BBB-9A4B6DB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SRS use-case diagram and community/messaging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4777B-1090-43CB-A581-5DB51214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1903099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920E1-2DBD-49E9-8BDC-A98E5D5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Security and trust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4A77-D40B-4A97-86FE-C2D1146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F1B22-CBB1-456B-A2A9-33AA329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A1D3-A4AD-43C6-989C-E832F57B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09A3E-C122-4127-9279-C8DEC3B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46B9-2F3A-49CB-B92C-FFDC0E4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Short access tokens, rotating refresh tokens and logout revocation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D0636-643A-491F-B3DA-BB60984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10D09-9CC7-4C54-B006-7A0FC1C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726C-793C-4359-9A62-137F6FAF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240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Server-side role checks protect every administrative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A2D6-D351-4C0C-977D-1B1302C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642E8-0B7E-43CF-8F60-391B59B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Input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AE9AE-1ABC-4C05-B2CE-39EA8A5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670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Validation, parameterized database operations and upload signature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D0FDF-0FA5-493F-947D-09438D0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2B3AD-30EA-4E13-963A-5C6D9D18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Secret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150B7-8A52-4D1E-927E-8EAA0ED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99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Backend-only keys, ignored environment files and sanitized production errors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71C75-02E3-4B3A-A140-7C1943B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5E6A7-AF76-4ADB-B8C6-5AC2FDE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AI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3BEA6-B835-465C-A412-7F22AC2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529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Approved-source retrieval, no-source refusal and medical disclaimer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6B55B-B90E-41B5-A624-B01BA39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7F643-37E9-4706-A6E8-F72621B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Account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68A1C-617F-453B-9187-7FF1218C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958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Single-use verification and reset links with expiry and concurrency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11D73-337E-421A-8E91-96BAA8E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Actual Gmail verification and password-reset links passed with isolated test-account cleanup.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99E19-F954-4418-AE88-DD6AC11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authentication tests, recovery rehearsal and SDD security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F2E09-C525-40C1-B26C-D4C232F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7358440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A6363-A616-4B81-88A5-F25E0DA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Verification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C52BE-9E63-4301-9D7F-1D55280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32A78-E80E-4C86-A82F-25A1203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0BE88-7E3D-4F51-9D30-210518C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83 / 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B4FF8-CA34-4AEB-858B-887D6AD1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2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backend tests passed across 14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BC58D-BAA8-4905-B791-6523436E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34 / 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CDE47-61A8-4C77-9A19-6A6107D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functional API checks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266EE-CAF7-4296-865B-4992D7C5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D9A441"/>
                </a:solidFill>
                <a:latin typeface="Aptos"/>
                <a:ea typeface="Aptos"/>
                <a:cs typeface="Aptos"/>
              </a:rPr>
              <a:t>26 / 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C5555-1A26-4A5C-BFD0-5155E631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emulated accessibility width scans passed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762500" y="1428750"/>
          <a:ext xmlns:a="http://schemas.openxmlformats.org/drawingml/2006/main" cx="65722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1fc767b64142d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20490-2086-4460-8DB6-84C41521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V&amp;V report and readiness assessment, updated 8 September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8E5E-8546-4E7B-881A-C15FB81F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16670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ED767-FCAD-4450-8656-D5A3B4B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Local performance improved, staging remains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379DE-3818-4E5E-9716-73E363A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EC8AD-C8FD-479D-997D-75655F8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6d0359bc394ea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32C22-EA21-4EFC-A88F-3B7B9A3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Local PR-001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7A69-7762-43A5-AB38-EAF4050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2,636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2132-B3DA-41EC-A77F-28A068F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five-run local p95 / maximum</a:t>
            </a:r>
          </a:p>
          <a:p xmlns:a="http://schemas.openxmlformats.org/drawingml/2006/main">
            <a:pPr algn="l">
              <a:defRPr sz="157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Target: 3,000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651BB-1CD8-455B-A0A3-3ACA08C7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6237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8535-38F5-4C9D-9985-D52EC4D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48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Post-login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8DC56-D792-46F1-A144-6C59519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37.5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B3219-390D-4E79-9F07-905E9DD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244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first /auth/me end-to-end</a:t>
            </a:r>
          </a:p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9.1 ms inside Express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52239-6CBC-4135-8FC8-DA1EE5C2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905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91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54A4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54A4A"/>
                </a:solidFill>
                <a:latin typeface="Aptos"/>
                <a:ea typeface="Aptos"/>
                <a:cs typeface="Aptos"/>
              </a:rPr>
              <a:t>PR-004 and PR-005 still require database-proximate staging.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AE16A-7F3D-4C1A-B626-E5D6117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Source: Docs/PERFORMANCE_FOLLOWUP_2026-09-07.md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C04AD-61D8-4CDC-B7CE-E1C3C5B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2855205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CDB7A-532B-4A80-AC6A-A276EE5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Team contribution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16573-A00C-4340-8CED-A8284D5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B2AED-EE75-4473-9CDF-B4C9C57F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5048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7c15fee51a435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99778-ACF3-4EFB-A318-82A4511B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Kevin C. Mercado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86351-9625-4939-A482-78B4EFDE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50%</a:t>
            </a:r>
          </a:p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Project Manager and Backend Developer</a:t>
            </a:r>
          </a:p>
          <a:p xmlns:a="http://schemas.openxmlformats.org/drawingml/2006/main">
            <a:pPr algn="l">
              <a:defRPr sz="1500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Planning, architecture, authentication, database, integration, testing and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874FB-23B0-4901-9EFC-0C78408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Devon Descipulo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9DEC-DDB0-4750-8AC5-1EBABD1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25%</a:t>
            </a:r>
          </a:p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Backend Developer</a:t>
            </a:r>
          </a:p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API, database and AI integration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A11AA-AE84-4FD2-893C-1BBCE3F1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9A441"/>
                </a:solidFill>
                <a:latin typeface="Aptos"/>
                <a:ea typeface="Aptos"/>
                <a:cs typeface="Aptos"/>
              </a:rPr>
              <a:t>Eumar Cabaluna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D96FD-EEE7-46CD-A5D2-44C29DC4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25%</a:t>
            </a:r>
          </a:p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Frontend Developer</a:t>
            </a:r>
          </a:p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Responsive UI, frontend integration and usability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DE11A-DF50-44A1-ADE9-3397CD0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Sources: SDD and STD contribution matrices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800AC-1B2D-4C05-B80C-92CFBD8C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938371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CDF1D-6ABF-44AF-A5AA-A8F5734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Current readiness and remaining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55A91-2E95-4356-9CDD-E7963D8E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BFE0D-6196-4A5C-8FB4-A916C479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CAD69-17C0-4E79-9DCD-EE8985A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6300" b="1" i="0">
                <a:solidFill>
                  <a:srgbClr val="2D6A4F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6E353-C1FE-4B35-A9A3-885401CA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out of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420F0-94D0-4B07-95F8-3167851A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Ready for a controlled local capstone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D0C87-F9F5-4F9E-BEA7-1B4C7823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The score measures internal evidence. The adviser and panel make the academic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5B57-C82E-421E-9B9A-D07CD51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76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54A4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B54A4A"/>
                </a:solidFill>
                <a:latin typeface="Aptos"/>
                <a:ea typeface="Aptos"/>
                <a:cs typeface="Aptos"/>
              </a:rPr>
              <a:t>Remaining acceptance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78B8C-5D86-4668-B65E-0B2B445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Five real UAT participants and signed summary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Staging performance for PR-004 and PR-005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Production deployment, TLS and recovery evidence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Physical-device and full WCAG review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4382B"/>
                </a:solidFill>
                <a:latin typeface="Aptos"/>
                <a:ea typeface="Aptos"/>
                <a:cs typeface="Aptos"/>
              </a:rPr>
              <a:t>Adviser and panel signatures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BD12F-CC6F-4F71-A0C9-0E3DDA85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578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These items remain visible in the documentation. The project does not claim 100% acceptance.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F371F-0AB0-49DD-BAE2-9D97FDA4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Source: Capstone presentation readiness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5C3DB-7CC1-42E0-B35D-C6295DF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19813313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E832F8-1886-48B4-9E62-D43754B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Defense demonstration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EFE50-2737-4CAD-B776-9AF7B985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7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6C89-B27A-404D-BA56-D06E4D8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7253-C3C3-4A84-A569-79EB7DA5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82FE3-7F1C-4E9F-9E19-A40443A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90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Public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F538E-2E96-423B-BD4B-98A46486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90650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Search Lagundi and open its verified details.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B673C-33F1-4C60-B261-76161901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5A1C9-C428-4779-9EC3-1AC9CFBF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686DD-A19E-4037-A0CE-3BB6B8E6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05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Dr.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5F853-E92D-4BBA-8E09-8712772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Ask a preparation question and point to the source and disclaimer.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7468A-BB3B-466D-A275-266194F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A3E06-89D2-44CC-85B4-82D6B82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365A2-7E65-449B-A255-CD2AD84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Contributor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6A760-4AAB-43F3-A182-5B54058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Show suggestion, profile, community and Messenger 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79C4C-73B9-4879-A9D0-A6ADF903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A6DBB-EA92-46A2-A4AA-92A730D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0916C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09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0F4C2-5C57-4AB3-83A8-3FC1282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338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6FD37-2F21-44CD-9F5F-472E87E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33850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Review moderation, herb/knowledge management and audit history.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7B163-C47A-4B58-8BC7-3FDEAF5C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5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89837-337A-422E-B41F-50A9199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D9A44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7ACC5-62EE-4555-A174-C87316E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1D22C-1D05-49EB-8E5D-C2920903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Close with tests, performance limits and readiness gates.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C09AD-63C9-4099-A355-BFC8532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4A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54A4A"/>
                </a:solidFill>
                <a:latin typeface="Aptos"/>
                <a:ea typeface="Aptos"/>
                <a:cs typeface="Aptos"/>
              </a:rPr>
              <a:t>Fallback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76C55-5627-4DCE-B205-3018FE2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38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4382B"/>
                </a:solidFill>
                <a:latin typeface="Aptos"/>
                <a:ea typeface="Aptos"/>
                <a:cs typeface="Aptos"/>
              </a:rPr>
              <a:t>Keep screenshots ready for Google OAuth, email and Gemini if the presentation network fails.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2D131-E516-4BCB-A9C1-CC12FC0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Source: DEFENSE_DEMO_SCRIPT.md and LOCAL_PRESENTATION_RUNBOOK.md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27761-323D-497D-8875-6F251628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6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64"/>
                </a:solidFill>
                <a:latin typeface="Aptos"/>
                <a:ea typeface="Aptos"/>
                <a:cs typeface="Aptos"/>
              </a:rPr>
              <a:t>CORDOVA PUBLIC COLLEGE, COLLEGE OF COMPUTER STUDIES</a:t>
            </a:r>
          </a:p>
        </p:txBody>
      </p:sp>
    </p:spTree>
    <p:extLst>
      <p:ext uri="{BB962C8B-B14F-4D97-AF65-F5344CB8AC3E}">
        <p14:creationId xmlns:p14="http://schemas.microsoft.com/office/powerpoint/2010/main" val="3106305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D6A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d1a7ef9964c5c"/>
          <a:stretch xmlns:a="http://schemas.openxmlformats.org/drawingml/2006/main"/>
        </p:blipFill>
        <p:spPr>
          <a:xfrm xmlns:a="http://schemas.openxmlformats.org/drawingml/2006/main">
            <a:off x="914400" y="76200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4749E-D8E0-4688-BCB4-38AE41C1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HERBAL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4DD63-B205-404C-963D-7C46834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95625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DF3E3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DDF3E3"/>
                </a:solidFill>
                <a:latin typeface="Aptos"/>
                <a:ea typeface="Aptos"/>
                <a:cs typeface="Aptos"/>
              </a:rPr>
              <a:t>Verified local functionality, clear evidence boundaries and a practical path to final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7FC12-7B1F-4A53-9114-FE9F97AB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91011-DF5F-4EDD-A61E-C21C126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C5EF7-B3F1-4463-94D5-3D146F4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769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DF3E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F3E3"/>
                </a:solidFill>
                <a:latin typeface="Aptos"/>
                <a:ea typeface="Aptos"/>
                <a:cs typeface="Aptos"/>
              </a:rPr>
              <a:t>Kevin C. Mercado</a:t>
            </a:r>
          </a:p>
          <a:p xmlns:a="http://schemas.openxmlformats.org/drawingml/2006/main">
            <a:pPr algn="ctr">
              <a:defRPr sz="1350" b="0" i="0">
                <a:solidFill>
                  <a:srgbClr val="DDF3E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F3E3"/>
                </a:solidFill>
                <a:latin typeface="Aptos"/>
                <a:ea typeface="Aptos"/>
                <a:cs typeface="Aptos"/>
              </a:rPr>
              <a:t>Project Manager and Backend Developer</a:t>
            </a:r>
          </a:p>
        </p:txBody>
      </p:sp>
    </p:spTree>
    <p:extLst>
      <p:ext uri="{BB962C8B-B14F-4D97-AF65-F5344CB8AC3E}">
        <p14:creationId xmlns:p14="http://schemas.microsoft.com/office/powerpoint/2010/main" val="797535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2026-09-08T00:55:56.9470000Z</dcterms:created>
  <dcterms:modified xsi:type="dcterms:W3CDTF">2026-09-08T00:55:56.9470000Z</dcterms:modified>
</coreProperties>
</file>